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5E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594360"/>
            <a:ext cx="5669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5E36B"/>
                </a:solidFill>
                <a:latin typeface="Aptos"/>
              </a:rPr>
              <a:t>SYSTEM BRIEFING     /     MVP 0.1.0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280160"/>
            <a:ext cx="649224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700" b="1" i="0">
                <a:solidFill>
                  <a:srgbClr val="FFFEFA"/>
                </a:solidFill>
                <a:latin typeface="Aptos Display"/>
              </a:rPr>
              <a:t>Vehicle Speed
Compliance Checker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3090672"/>
            <a:ext cx="5943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C5CED0"/>
                </a:solidFill>
                <a:latin typeface="Aptos"/>
              </a:rPr>
              <a:t>A clear, testable rule between a speed reading
and its configured limit.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86384" y="4178808"/>
            <a:ext cx="5431536" cy="0"/>
          </a:xfrm>
          <a:prstGeom prst="line">
            <a:avLst/>
          </a:prstGeom>
          <a:ln w="12700">
            <a:solidFill>
              <a:srgbClr val="5260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86384" y="4425696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5CED0"/>
                </a:solidFill>
                <a:latin typeface="Aptos"/>
              </a:rPr>
              <a:t>PYTHON  /  FLASK  /  PYTEST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4800600"/>
            <a:ext cx="5760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2A0A4"/>
                </a:solidFill>
                <a:latin typeface="Aptos"/>
              </a:rPr>
              <a:t>DOMAIN LOGIC   +   HTTP API   +   CI</a:t>
            </a:r>
          </a:p>
        </p:txBody>
      </p:sp>
      <p:sp>
        <p:nvSpPr>
          <p:cNvPr id="9" name="Oval 8"/>
          <p:cNvSpPr/>
          <p:nvPr/>
        </p:nvSpPr>
        <p:spPr>
          <a:xfrm>
            <a:off x="7452360" y="987552"/>
            <a:ext cx="3840480" cy="3840480"/>
          </a:xfrm>
          <a:prstGeom prst="ellipse">
            <a:avLst/>
          </a:prstGeom>
          <a:noFill/>
          <a:ln w="17780">
            <a:solidFill>
              <a:srgbClr val="344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90688" y="1325880"/>
            <a:ext cx="3163824" cy="3163824"/>
          </a:xfrm>
          <a:prstGeom prst="ellipse">
            <a:avLst/>
          </a:prstGeom>
          <a:noFill/>
          <a:ln w="17780">
            <a:solidFill>
              <a:srgbClr val="465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147304" y="1682496"/>
            <a:ext cx="2450592" cy="2450592"/>
          </a:xfrm>
          <a:prstGeom prst="ellipse">
            <a:avLst/>
          </a:prstGeom>
          <a:noFill/>
          <a:ln w="17780">
            <a:solidFill>
              <a:srgbClr val="5E6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104120" y="2468880"/>
            <a:ext cx="182880" cy="182880"/>
          </a:xfrm>
          <a:prstGeom prst="ellipse">
            <a:avLst/>
          </a:prstGeom>
          <a:solidFill>
            <a:srgbClr val="C5E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339327" y="3493008"/>
            <a:ext cx="146304" cy="146304"/>
          </a:xfrm>
          <a:prstGeom prst="ellipse">
            <a:avLst/>
          </a:prstGeom>
          <a:solidFill>
            <a:srgbClr val="53B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0768" y="2286000"/>
            <a:ext cx="192024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5200" b="1" i="0">
                <a:solidFill>
                  <a:srgbClr val="FFFEFA"/>
                </a:solidFill>
                <a:latin typeface="Aptos Display"/>
              </a:rPr>
              <a:t>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67344" y="309067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AAB5B8"/>
                </a:solidFill>
                <a:latin typeface="Aptos"/>
              </a:rPr>
              <a:t>km/h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22792" y="3767328"/>
            <a:ext cx="1426464" cy="438912"/>
          </a:xfrm>
          <a:prstGeom prst="rect">
            <a:avLst/>
          </a:prstGeom>
          <a:solidFill>
            <a:srgbClr val="C5E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22792" y="3822191"/>
            <a:ext cx="142646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8232B"/>
                </a:solidFill>
                <a:latin typeface="Aptos"/>
              </a:rPr>
              <a:t>SAFE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4590288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EFA"/>
                </a:solidFill>
                <a:latin typeface="Aptos"/>
              </a:rPr>
              <a:t>79  &lt;  80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86384" y="6236208"/>
            <a:ext cx="10689336" cy="0"/>
          </a:xfrm>
          <a:prstGeom prst="line">
            <a:avLst/>
          </a:prstGeom>
          <a:ln w="9525">
            <a:solidFill>
              <a:srgbClr val="3D4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86384" y="6364224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AAB5B8"/>
                </a:solidFill>
                <a:latin typeface="Aptos"/>
              </a:rPr>
              <a:t>PROJECT OVERVIEW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45936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C5E36B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7132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3BBA5"/>
                </a:solidFill>
                <a:latin typeface="Aptos"/>
              </a:rPr>
              <a:t>01 / 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813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8232B"/>
                </a:solidFill>
                <a:latin typeface="Aptos Display"/>
              </a:rPr>
              <a:t>One comparison. Three clear outcomes.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3560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77838A"/>
                </a:solidFill>
                <a:latin typeface="Aptos"/>
              </a:rPr>
              <a:t>A small service that turns two validated values into an unambiguous response.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6455664"/>
            <a:ext cx="10872216" cy="0"/>
          </a:xfrm>
          <a:prstGeom prst="line">
            <a:avLst/>
          </a:prstGeom>
          <a:ln w="9525">
            <a:solidFill>
              <a:srgbClr val="D8D8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76656" y="6519672"/>
            <a:ext cx="74980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77838A"/>
                </a:solidFill>
                <a:latin typeface="Aptos"/>
              </a:rPr>
              <a:t>VEHICLE SPEED COMPLIANCE CHECKER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01384"/>
            <a:ext cx="50292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53BBA5"/>
                </a:solidFill>
                <a:latin typeface="Apto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240280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53BBA5"/>
                </a:solidFill>
                <a:latin typeface="Aptos Display"/>
              </a:rPr>
              <a:t>01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13232" y="2761488"/>
            <a:ext cx="2907792" cy="0"/>
          </a:xfrm>
          <a:prstGeom prst="line">
            <a:avLst/>
          </a:prstGeom>
          <a:ln w="12700">
            <a:solidFill>
              <a:srgbClr val="D8D8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13232" y="297180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8232B"/>
                </a:solidFill>
                <a:latin typeface="Aptos Display"/>
              </a:rPr>
              <a:t>Receive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529584"/>
            <a:ext cx="288036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77838A"/>
                </a:solidFill>
                <a:latin typeface="Aptos"/>
              </a:rPr>
              <a:t>A JSON request carries vehicle speed and the configured limit.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52544" y="2240280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C5E36B"/>
                </a:solidFill>
                <a:latin typeface="Aptos Display"/>
              </a:rPr>
              <a:t>02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352544" y="2761488"/>
            <a:ext cx="2907792" cy="0"/>
          </a:xfrm>
          <a:prstGeom prst="line">
            <a:avLst/>
          </a:prstGeom>
          <a:ln w="12700">
            <a:solidFill>
              <a:srgbClr val="D8D8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352544" y="297180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8232B"/>
                </a:solidFill>
                <a:latin typeface="Aptos Display"/>
              </a:rPr>
              <a:t>Validate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52544" y="3529584"/>
            <a:ext cx="288036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77838A"/>
                </a:solidFill>
                <a:latin typeface="Aptos"/>
              </a:rPr>
              <a:t>Both values must be finite, numeric, and non-negative.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1856" y="2240280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EB755D"/>
                </a:solidFill>
                <a:latin typeface="Aptos Display"/>
              </a:rPr>
              <a:t>03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991856" y="2761488"/>
            <a:ext cx="2907792" cy="0"/>
          </a:xfrm>
          <a:prstGeom prst="line">
            <a:avLst/>
          </a:prstGeom>
          <a:ln w="12700">
            <a:solidFill>
              <a:srgbClr val="D8D8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991856" y="297180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8232B"/>
                </a:solidFill>
                <a:latin typeface="Aptos Display"/>
              </a:rPr>
              <a:t>Compare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91856" y="3529584"/>
            <a:ext cx="288036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77838A"/>
                </a:solidFill>
                <a:latin typeface="Aptos"/>
              </a:rPr>
              <a:t>Decimal comparison maps the relationship to a named status.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5074920"/>
            <a:ext cx="10698480" cy="758952"/>
          </a:xfrm>
          <a:prstGeom prst="rect">
            <a:avLst/>
          </a:prstGeom>
          <a:solidFill>
            <a:srgbClr val="18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285232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C5E36B"/>
                </a:solidFill>
                <a:latin typeface="Aptos"/>
              </a:rPr>
              <a:t>DESIGN PRINCIPLE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79776" y="5212080"/>
            <a:ext cx="80467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FFEFA"/>
                </a:solidFill>
                <a:latin typeface="Aptos Display"/>
              </a:rPr>
              <a:t>HTTP handles transport. The domain owns the rule.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7132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3BBA5"/>
                </a:solidFill>
                <a:latin typeface="Aptos"/>
              </a:rPr>
              <a:t>02 /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813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8232B"/>
                </a:solidFill>
                <a:latin typeface="Aptos Display"/>
              </a:rPr>
              <a:t>A thin API around an independent domain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3560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77838A"/>
                </a:solidFill>
                <a:latin typeface="Aptos"/>
              </a:rPr>
              <a:t>The route translates HTTP into a domain call, then maps the result back to JSON.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6455664"/>
            <a:ext cx="10872216" cy="0"/>
          </a:xfrm>
          <a:prstGeom prst="line">
            <a:avLst/>
          </a:prstGeom>
          <a:ln w="9525">
            <a:solidFill>
              <a:srgbClr val="D8D8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76656" y="6519672"/>
            <a:ext cx="74980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77838A"/>
                </a:solidFill>
                <a:latin typeface="Aptos"/>
              </a:rPr>
              <a:t>VEHICLE SPEED COMPLIANCE CHECKER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01384"/>
            <a:ext cx="50292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53BBA5"/>
                </a:solidFill>
                <a:latin typeface="Aptos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2587752"/>
            <a:ext cx="2267712" cy="1408176"/>
          </a:xfrm>
          <a:prstGeom prst="rect">
            <a:avLst/>
          </a:prstGeom>
          <a:solidFill>
            <a:srgbClr val="FFFEFA"/>
          </a:solidFill>
          <a:ln w="12700">
            <a:solidFill>
              <a:srgbClr val="D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2587752"/>
            <a:ext cx="73152" cy="1408176"/>
          </a:xfrm>
          <a:prstGeom prst="rect">
            <a:avLst/>
          </a:prstGeom>
          <a:solidFill>
            <a:srgbClr val="53B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825496"/>
            <a:ext cx="18745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77838A"/>
                </a:solidFill>
                <a:latin typeface="Aptos"/>
              </a:rPr>
              <a:t>CLIENT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136392"/>
            <a:ext cx="18745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8232B"/>
                </a:solidFill>
                <a:latin typeface="Aptos"/>
              </a:rPr>
              <a:t>PowerShell
or HTTP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29584" y="2587752"/>
            <a:ext cx="2267712" cy="1408176"/>
          </a:xfrm>
          <a:prstGeom prst="rect">
            <a:avLst/>
          </a:prstGeom>
          <a:solidFill>
            <a:srgbClr val="FFFEFA"/>
          </a:solidFill>
          <a:ln w="12700">
            <a:solidFill>
              <a:srgbClr val="D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29584" y="2587752"/>
            <a:ext cx="73152" cy="1408176"/>
          </a:xfrm>
          <a:prstGeom prst="rect">
            <a:avLst/>
          </a:prstGeom>
          <a:solidFill>
            <a:srgbClr val="C5E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39" y="2825496"/>
            <a:ext cx="18745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77838A"/>
                </a:solidFill>
                <a:latin typeface="Aptos"/>
              </a:rPr>
              <a:t>API ADAPTER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3136392"/>
            <a:ext cx="18745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8232B"/>
                </a:solidFill>
                <a:latin typeface="Aptos"/>
              </a:rPr>
              <a:t>api.py
POST /check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45936" y="2587752"/>
            <a:ext cx="2267712" cy="1408176"/>
          </a:xfrm>
          <a:prstGeom prst="rect">
            <a:avLst/>
          </a:prstGeom>
          <a:solidFill>
            <a:srgbClr val="FFFEFA"/>
          </a:solidFill>
          <a:ln w="12700">
            <a:solidFill>
              <a:srgbClr val="D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45936" y="2587752"/>
            <a:ext cx="73152" cy="1408176"/>
          </a:xfrm>
          <a:prstGeom prst="rect">
            <a:avLst/>
          </a:prstGeom>
          <a:solidFill>
            <a:srgbClr val="EB7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65392" y="2825496"/>
            <a:ext cx="18745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77838A"/>
                </a:solidFill>
                <a:latin typeface="Aptos"/>
              </a:rPr>
              <a:t>DOMAIN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3136392"/>
            <a:ext cx="18745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8232B"/>
                </a:solidFill>
                <a:latin typeface="Aptos"/>
              </a:rPr>
              <a:t>checker.py
validate + compare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62288" y="2587752"/>
            <a:ext cx="2267712" cy="1408176"/>
          </a:xfrm>
          <a:prstGeom prst="rect">
            <a:avLst/>
          </a:prstGeom>
          <a:solidFill>
            <a:srgbClr val="FFFEFA"/>
          </a:solidFill>
          <a:ln w="12700">
            <a:solidFill>
              <a:srgbClr val="D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62288" y="2587752"/>
            <a:ext cx="73152" cy="1408176"/>
          </a:xfrm>
          <a:prstGeom prst="rect">
            <a:avLst/>
          </a:prstGeom>
          <a:solidFill>
            <a:srgbClr val="53B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81744" y="2825496"/>
            <a:ext cx="18745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77838A"/>
                </a:solidFill>
                <a:latin typeface="Aptos"/>
              </a:rPr>
              <a:t>RESPONSE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81744" y="3136392"/>
            <a:ext cx="18745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8232B"/>
                </a:solidFill>
                <a:latin typeface="Aptos"/>
              </a:rPr>
              <a:t>JSON
200 / 400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026664" y="3273552"/>
            <a:ext cx="393192" cy="0"/>
          </a:xfrm>
          <a:prstGeom prst="line">
            <a:avLst/>
          </a:prstGeom>
          <a:ln w="19050">
            <a:solidFill>
              <a:srgbClr val="7783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3364992" y="3218688"/>
            <a:ext cx="109728" cy="109728"/>
          </a:xfrm>
          <a:prstGeom prst="ellipse">
            <a:avLst/>
          </a:prstGeom>
          <a:solidFill>
            <a:srgbClr val="778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5843016" y="3273552"/>
            <a:ext cx="393191" cy="0"/>
          </a:xfrm>
          <a:prstGeom prst="line">
            <a:avLst/>
          </a:prstGeom>
          <a:ln w="19050">
            <a:solidFill>
              <a:srgbClr val="7783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6181344" y="3218688"/>
            <a:ext cx="109728" cy="109728"/>
          </a:xfrm>
          <a:prstGeom prst="ellipse">
            <a:avLst/>
          </a:prstGeom>
          <a:solidFill>
            <a:srgbClr val="778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8659368" y="3273552"/>
            <a:ext cx="393192" cy="0"/>
          </a:xfrm>
          <a:prstGeom prst="line">
            <a:avLst/>
          </a:prstGeom>
          <a:ln w="19050">
            <a:solidFill>
              <a:srgbClr val="7783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8997696" y="3218688"/>
            <a:ext cx="109728" cy="109728"/>
          </a:xfrm>
          <a:prstGeom prst="ellipse">
            <a:avLst/>
          </a:prstGeom>
          <a:solidFill>
            <a:srgbClr val="778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224528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7838A"/>
                </a:solidFill>
                <a:latin typeface="Aptos"/>
              </a:rPr>
              <a:t>JSON request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75887" y="4224528"/>
            <a:ext cx="3200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7838A"/>
                </a:solidFill>
                <a:latin typeface="Aptos"/>
              </a:rPr>
              <a:t>check_compliance(speed, limit)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32520" y="4224528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7838A"/>
                </a:solidFill>
                <a:latin typeface="Aptos"/>
              </a:rPr>
              <a:t>status or validation error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31520" y="4828032"/>
            <a:ext cx="10588752" cy="0"/>
          </a:xfrm>
          <a:prstGeom prst="line">
            <a:avLst/>
          </a:prstGeom>
          <a:ln w="12700">
            <a:solidFill>
              <a:srgbClr val="D8D8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49808" y="5120640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53BBA5"/>
                </a:solidFill>
                <a:latin typeface="Aptos"/>
              </a:rPr>
              <a:t>WHY IT MATTERS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14016" y="5047488"/>
            <a:ext cx="84124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8232B"/>
                </a:solidFill>
                <a:latin typeface="Aptos"/>
              </a:rPr>
              <a:t>Domain tests need no Flask server; API tests need no open network 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7132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3BBA5"/>
                </a:solidFill>
                <a:latin typeface="Aptos"/>
              </a:rPr>
              <a:t>03 / DECISION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813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8232B"/>
                </a:solidFill>
                <a:latin typeface="Aptos Display"/>
              </a:rPr>
              <a:t>The limit is the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3560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77838A"/>
                </a:solidFill>
                <a:latin typeface="Aptos"/>
              </a:rPr>
              <a:t>Inputs are converted to Decimal before comparison, avoiding binary float surprises.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6455664"/>
            <a:ext cx="10872216" cy="0"/>
          </a:xfrm>
          <a:prstGeom prst="line">
            <a:avLst/>
          </a:prstGeom>
          <a:ln w="9525">
            <a:solidFill>
              <a:srgbClr val="D8D8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76656" y="6519672"/>
            <a:ext cx="74980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77838A"/>
                </a:solidFill>
                <a:latin typeface="Aptos"/>
              </a:rPr>
              <a:t>VEHICLE SPEED COMPLIANCE CHECKER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01384"/>
            <a:ext cx="50292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53BBA5"/>
                </a:solidFill>
                <a:latin typeface="Aptos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221992"/>
            <a:ext cx="10652760" cy="722376"/>
          </a:xfrm>
          <a:prstGeom prst="rect">
            <a:avLst/>
          </a:prstGeom>
          <a:solidFill>
            <a:srgbClr val="FFFEFA"/>
          </a:solidFill>
          <a:ln w="12700">
            <a:solidFill>
              <a:srgbClr val="D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2221992"/>
            <a:ext cx="100584" cy="722376"/>
          </a:xfrm>
          <a:prstGeom prst="rect">
            <a:avLst/>
          </a:prstGeom>
          <a:solidFill>
            <a:srgbClr val="53B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377440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8232B"/>
                </a:solidFill>
                <a:latin typeface="Aptos Display"/>
              </a:rPr>
              <a:t>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0864" y="2377440"/>
            <a:ext cx="502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53BBA5"/>
                </a:solidFill>
                <a:latin typeface="Aptos Display"/>
              </a:rPr>
              <a:t>&lt;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377440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8232B"/>
                </a:solidFill>
                <a:latin typeface="Aptos Display"/>
              </a:rPr>
              <a:t>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724912"/>
            <a:ext cx="1508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77838A"/>
                </a:solidFill>
                <a:latin typeface="Aptos"/>
              </a:rPr>
              <a:t>VEHICLE SPEED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724912"/>
            <a:ext cx="1417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77838A"/>
                </a:solidFill>
                <a:latin typeface="Aptos"/>
              </a:rPr>
              <a:t>SPEED LIMIT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19672" y="2386584"/>
            <a:ext cx="1691640" cy="384048"/>
          </a:xfrm>
          <a:prstGeom prst="rect">
            <a:avLst/>
          </a:prstGeom>
          <a:solidFill>
            <a:srgbClr val="DC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9672" y="2432304"/>
            <a:ext cx="1691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53BBA5"/>
                </a:solidFill>
                <a:latin typeface="Aptos"/>
              </a:rPr>
              <a:t>SAFE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7072" y="2459736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77838A"/>
                </a:solidFill>
                <a:latin typeface="Aptos"/>
              </a:rPr>
              <a:t>BELOW LIMIT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" y="3209544"/>
            <a:ext cx="10652760" cy="722376"/>
          </a:xfrm>
          <a:prstGeom prst="rect">
            <a:avLst/>
          </a:prstGeom>
          <a:solidFill>
            <a:srgbClr val="FFFEFA"/>
          </a:solidFill>
          <a:ln w="12700">
            <a:solidFill>
              <a:srgbClr val="D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9808" y="3209544"/>
            <a:ext cx="100584" cy="722376"/>
          </a:xfrm>
          <a:prstGeom prst="rect">
            <a:avLst/>
          </a:prstGeom>
          <a:solidFill>
            <a:srgbClr val="739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3364991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8232B"/>
                </a:solidFill>
                <a:latin typeface="Aptos Display"/>
              </a:rPr>
              <a:t>80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40864" y="3364991"/>
            <a:ext cx="502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739A35"/>
                </a:solidFill>
                <a:latin typeface="Aptos Display"/>
              </a:rPr>
              <a:t>=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3364991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8232B"/>
                </a:solidFill>
                <a:latin typeface="Aptos Display"/>
              </a:rPr>
              <a:t>80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712463"/>
            <a:ext cx="1508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77838A"/>
                </a:solidFill>
                <a:latin typeface="Aptos"/>
              </a:rPr>
              <a:t>VEHICLE SPEED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3712463"/>
            <a:ext cx="1417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77838A"/>
                </a:solidFill>
                <a:latin typeface="Aptos"/>
              </a:rPr>
              <a:t>SPEED LIMIT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19672" y="3374136"/>
            <a:ext cx="1691640" cy="384048"/>
          </a:xfrm>
          <a:prstGeom prst="rect">
            <a:avLst/>
          </a:prstGeom>
          <a:solidFill>
            <a:srgbClr val="E7E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9672" y="3419856"/>
            <a:ext cx="1691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739A35"/>
                </a:solidFill>
                <a:latin typeface="Aptos"/>
              </a:rPr>
              <a:t>AT_LIMIT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77072" y="3447287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77838A"/>
                </a:solidFill>
                <a:latin typeface="Aptos"/>
              </a:rPr>
              <a:t>AT THE LIMIT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8" y="4197096"/>
            <a:ext cx="10652760" cy="722376"/>
          </a:xfrm>
          <a:prstGeom prst="rect">
            <a:avLst/>
          </a:prstGeom>
          <a:solidFill>
            <a:srgbClr val="FFFEFA"/>
          </a:solidFill>
          <a:ln w="12700">
            <a:solidFill>
              <a:srgbClr val="D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9808" y="4197096"/>
            <a:ext cx="100584" cy="722376"/>
          </a:xfrm>
          <a:prstGeom prst="rect">
            <a:avLst/>
          </a:prstGeom>
          <a:solidFill>
            <a:srgbClr val="EB7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4352544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8232B"/>
                </a:solidFill>
                <a:latin typeface="Aptos Display"/>
              </a:rPr>
              <a:t>81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40864" y="4352544"/>
            <a:ext cx="502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EB755D"/>
                </a:solidFill>
                <a:latin typeface="Aptos Display"/>
              </a:rPr>
              <a:t>&gt;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63240" y="4352544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8232B"/>
                </a:solidFill>
                <a:latin typeface="Aptos Display"/>
              </a:rPr>
              <a:t>80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4700016"/>
            <a:ext cx="1508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77838A"/>
                </a:solidFill>
                <a:latin typeface="Aptos"/>
              </a:rPr>
              <a:t>VEHICLE SPEED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63240" y="4700016"/>
            <a:ext cx="1417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77838A"/>
                </a:solidFill>
                <a:latin typeface="Aptos"/>
              </a:rPr>
              <a:t>SPEED LIMIT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19672" y="4361688"/>
            <a:ext cx="1691640" cy="384048"/>
          </a:xfrm>
          <a:prstGeom prst="rect">
            <a:avLst/>
          </a:prstGeom>
          <a:solidFill>
            <a:srgbClr val="F5E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19672" y="4407408"/>
            <a:ext cx="1691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EB755D"/>
                </a:solidFill>
                <a:latin typeface="Aptos"/>
              </a:rPr>
              <a:t>OVER_SPEED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77072" y="443484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77838A"/>
                </a:solidFill>
                <a:latin typeface="Aptos"/>
              </a:rPr>
              <a:t>ABOVE LIMIT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4" y="5330952"/>
            <a:ext cx="749807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8232B"/>
                </a:solidFill>
                <a:latin typeface="Aptos"/>
              </a:rPr>
              <a:t>Zero is valid: 0 vs 0 is AT_LIMIT; 0 vs 1 is SAFE.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7132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3BBA5"/>
                </a:solidFill>
                <a:latin typeface="Aptos"/>
              </a:rPr>
              <a:t>04 / INPUT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813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8232B"/>
                </a:solidFill>
                <a:latin typeface="Aptos Display"/>
              </a:rPr>
              <a:t>Reject ambiguity before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3560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77838A"/>
                </a:solidFill>
                <a:latin typeface="Aptos"/>
              </a:rPr>
              <a:t>One normalization path validates both fields and returns a consistent error contract.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6455664"/>
            <a:ext cx="10872216" cy="0"/>
          </a:xfrm>
          <a:prstGeom prst="line">
            <a:avLst/>
          </a:prstGeom>
          <a:ln w="9525">
            <a:solidFill>
              <a:srgbClr val="D8D8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76656" y="6519672"/>
            <a:ext cx="74980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77838A"/>
                </a:solidFill>
                <a:latin typeface="Aptos"/>
              </a:rPr>
              <a:t>VEHICLE SPEED COMPLIANCE CHECKER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01384"/>
            <a:ext cx="50292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53BBA5"/>
                </a:solidFill>
                <a:latin typeface="Aptos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130552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3BBA5"/>
                </a:solidFill>
                <a:latin typeface="Aptos"/>
              </a:rPr>
              <a:t>ACCEPT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54496" y="2130552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B755D"/>
                </a:solidFill>
                <a:latin typeface="Aptos"/>
              </a:rPr>
              <a:t>REJECT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15584" y="2139696"/>
            <a:ext cx="0" cy="3118104"/>
          </a:xfrm>
          <a:prstGeom prst="line">
            <a:avLst/>
          </a:prstGeom>
          <a:ln w="12700">
            <a:solidFill>
              <a:srgbClr val="D8D8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795528" y="2679191"/>
            <a:ext cx="146304" cy="146304"/>
          </a:xfrm>
          <a:prstGeom prst="ellipse">
            <a:avLst/>
          </a:prstGeom>
          <a:solidFill>
            <a:srgbClr val="53B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2633472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8232B"/>
                </a:solidFill>
                <a:latin typeface="Aptos"/>
              </a:rPr>
              <a:t>Finite numbers</a:t>
            </a:r>
          </a:p>
        </p:txBody>
      </p:sp>
      <p:sp>
        <p:nvSpPr>
          <p:cNvPr id="13" name="Oval 12"/>
          <p:cNvSpPr/>
          <p:nvPr/>
        </p:nvSpPr>
        <p:spPr>
          <a:xfrm>
            <a:off x="795528" y="3392424"/>
            <a:ext cx="146304" cy="146304"/>
          </a:xfrm>
          <a:prstGeom prst="ellipse">
            <a:avLst/>
          </a:prstGeom>
          <a:solidFill>
            <a:srgbClr val="53B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3346704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8232B"/>
                </a:solidFill>
                <a:latin typeface="Aptos"/>
              </a:rPr>
              <a:t>Numeric strings</a:t>
            </a:r>
          </a:p>
        </p:txBody>
      </p:sp>
      <p:sp>
        <p:nvSpPr>
          <p:cNvPr id="15" name="Oval 14"/>
          <p:cNvSpPr/>
          <p:nvPr/>
        </p:nvSpPr>
        <p:spPr>
          <a:xfrm>
            <a:off x="795528" y="4105655"/>
            <a:ext cx="146304" cy="146304"/>
          </a:xfrm>
          <a:prstGeom prst="ellipse">
            <a:avLst/>
          </a:prstGeom>
          <a:solidFill>
            <a:srgbClr val="53B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4059935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8232B"/>
                </a:solidFill>
                <a:latin typeface="Aptos"/>
              </a:rPr>
              <a:t>Zero and positive values</a:t>
            </a:r>
          </a:p>
        </p:txBody>
      </p:sp>
      <p:sp>
        <p:nvSpPr>
          <p:cNvPr id="17" name="Oval 16"/>
          <p:cNvSpPr/>
          <p:nvPr/>
        </p:nvSpPr>
        <p:spPr>
          <a:xfrm>
            <a:off x="6272784" y="2642616"/>
            <a:ext cx="137160" cy="137160"/>
          </a:xfrm>
          <a:prstGeom prst="ellipse">
            <a:avLst/>
          </a:prstGeom>
          <a:solidFill>
            <a:srgbClr val="EB7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74536" y="258775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8232B"/>
                </a:solidFill>
                <a:latin typeface="Aptos"/>
              </a:rPr>
              <a:t>Missing or null values</a:t>
            </a:r>
          </a:p>
        </p:txBody>
      </p:sp>
      <p:sp>
        <p:nvSpPr>
          <p:cNvPr id="19" name="Oval 18"/>
          <p:cNvSpPr/>
          <p:nvPr/>
        </p:nvSpPr>
        <p:spPr>
          <a:xfrm>
            <a:off x="6272784" y="3191256"/>
            <a:ext cx="137160" cy="137160"/>
          </a:xfrm>
          <a:prstGeom prst="ellipse">
            <a:avLst/>
          </a:prstGeom>
          <a:solidFill>
            <a:srgbClr val="EB7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74536" y="313639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8232B"/>
                </a:solidFill>
                <a:latin typeface="Aptos"/>
              </a:rPr>
              <a:t>Negative values</a:t>
            </a:r>
          </a:p>
        </p:txBody>
      </p:sp>
      <p:sp>
        <p:nvSpPr>
          <p:cNvPr id="21" name="Oval 20"/>
          <p:cNvSpPr/>
          <p:nvPr/>
        </p:nvSpPr>
        <p:spPr>
          <a:xfrm>
            <a:off x="6272784" y="3739896"/>
            <a:ext cx="137160" cy="137160"/>
          </a:xfrm>
          <a:prstGeom prst="ellipse">
            <a:avLst/>
          </a:prstGeom>
          <a:solidFill>
            <a:srgbClr val="EB7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74536" y="368503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8232B"/>
                </a:solidFill>
                <a:latin typeface="Aptos"/>
              </a:rPr>
              <a:t>Booleans</a:t>
            </a:r>
          </a:p>
        </p:txBody>
      </p:sp>
      <p:sp>
        <p:nvSpPr>
          <p:cNvPr id="23" name="Oval 22"/>
          <p:cNvSpPr/>
          <p:nvPr/>
        </p:nvSpPr>
        <p:spPr>
          <a:xfrm>
            <a:off x="6272784" y="4288536"/>
            <a:ext cx="137160" cy="137160"/>
          </a:xfrm>
          <a:prstGeom prst="ellipse">
            <a:avLst/>
          </a:prstGeom>
          <a:solidFill>
            <a:srgbClr val="EB7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74536" y="423367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8232B"/>
                </a:solidFill>
                <a:latin typeface="Aptos"/>
              </a:rPr>
              <a:t>Empty / whitespace text</a:t>
            </a:r>
          </a:p>
        </p:txBody>
      </p:sp>
      <p:sp>
        <p:nvSpPr>
          <p:cNvPr id="25" name="Oval 24"/>
          <p:cNvSpPr/>
          <p:nvPr/>
        </p:nvSpPr>
        <p:spPr>
          <a:xfrm>
            <a:off x="6272784" y="4837176"/>
            <a:ext cx="137160" cy="137160"/>
          </a:xfrm>
          <a:prstGeom prst="ellipse">
            <a:avLst/>
          </a:prstGeom>
          <a:solidFill>
            <a:srgbClr val="EB7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74536" y="478231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8232B"/>
                </a:solidFill>
                <a:latin typeface="Aptos"/>
              </a:rPr>
              <a:t>Non-numeric or non-finite values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" y="5276088"/>
            <a:ext cx="10607040" cy="548640"/>
          </a:xfrm>
          <a:prstGeom prst="rect">
            <a:avLst/>
          </a:prstGeom>
          <a:solidFill>
            <a:srgbClr val="18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2" y="5458968"/>
            <a:ext cx="1645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C5E36B"/>
                </a:solidFill>
                <a:latin typeface="Aptos"/>
              </a:rPr>
              <a:t>INVALID REQUEST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16352" y="5394960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EFA"/>
                </a:solidFill>
                <a:latin typeface="Aptos"/>
              </a:rPr>
              <a:t>HTTP 400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5404104"/>
            <a:ext cx="6217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DCE3DF"/>
                </a:solidFill>
                <a:latin typeface="Consolas"/>
              </a:rPr>
              <a:t>{"error": "vehicle_speed must be a non-negative number"}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7132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3BBA5"/>
                </a:solidFill>
                <a:latin typeface="Aptos"/>
              </a:rPr>
              <a:t>05 / HTTP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813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8232B"/>
                </a:solidFill>
                <a:latin typeface="Aptos Display"/>
              </a:rPr>
              <a:t>Small surface. Predictable response.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3560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77838A"/>
                </a:solidFill>
                <a:latin typeface="Aptos"/>
              </a:rPr>
              <a:t>POST /check accepts a JSON object and returns either a status or a field-level error.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6455664"/>
            <a:ext cx="10872216" cy="0"/>
          </a:xfrm>
          <a:prstGeom prst="line">
            <a:avLst/>
          </a:prstGeom>
          <a:ln w="9525">
            <a:solidFill>
              <a:srgbClr val="D8D8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76656" y="6519672"/>
            <a:ext cx="74980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77838A"/>
                </a:solidFill>
                <a:latin typeface="Aptos"/>
              </a:rPr>
              <a:t>VEHICLE SPEED COMPLIANCE CHECKER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01384"/>
            <a:ext cx="50292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53BBA5"/>
                </a:solidFill>
                <a:latin typeface="Aptos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148840"/>
            <a:ext cx="5102352" cy="3246120"/>
          </a:xfrm>
          <a:prstGeom prst="rect">
            <a:avLst/>
          </a:prstGeom>
          <a:solidFill>
            <a:srgbClr val="18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441448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5E36B"/>
                </a:solidFill>
                <a:latin typeface="Aptos"/>
              </a:rPr>
              <a:t>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843784"/>
            <a:ext cx="347472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FFFEFA"/>
                </a:solidFill>
                <a:latin typeface="Aptos Display"/>
              </a:rPr>
              <a:t>POST   /check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24128" y="3346704"/>
            <a:ext cx="4443984" cy="0"/>
          </a:xfrm>
          <a:prstGeom prst="line">
            <a:avLst/>
          </a:prstGeom>
          <a:ln w="10160">
            <a:solidFill>
              <a:srgbClr val="4755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24128" y="3602736"/>
            <a:ext cx="4297680" cy="1261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E2E8E2"/>
                </a:solidFill>
                <a:latin typeface="Consolas"/>
              </a:rPr>
              <a:t>{
  "vehicle_speed": 79,
  "speed_limit": 80
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4983480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AB5B8"/>
                </a:solidFill>
                <a:latin typeface="Consolas"/>
              </a:rPr>
              <a:t>Content-Type: application/json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304288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3BBA5"/>
                </a:solidFill>
                <a:latin typeface="Aptos"/>
              </a:rPr>
              <a:t>SUCCESS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679192"/>
            <a:ext cx="2743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8232B"/>
                </a:solidFill>
                <a:latin typeface="Aptos Display"/>
              </a:rPr>
              <a:t>200 OK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172968"/>
            <a:ext cx="4434840" cy="603504"/>
          </a:xfrm>
          <a:prstGeom prst="rect">
            <a:avLst/>
          </a:prstGeom>
          <a:solidFill>
            <a:srgbClr val="DC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3337560"/>
            <a:ext cx="4023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8232B"/>
                </a:solidFill>
                <a:latin typeface="Consolas"/>
              </a:rPr>
              <a:t>{"status": "SAFE"}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00800" y="4105656"/>
            <a:ext cx="4590288" cy="0"/>
          </a:xfrm>
          <a:prstGeom prst="line">
            <a:avLst/>
          </a:prstGeom>
          <a:ln w="12700">
            <a:solidFill>
              <a:srgbClr val="D8D8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00800" y="4361688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EB755D"/>
                </a:solidFill>
                <a:latin typeface="Aptos"/>
              </a:rPr>
              <a:t>INVALID INPUT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69087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18232B"/>
                </a:solidFill>
                <a:latin typeface="Aptos Display"/>
              </a:rPr>
              <a:t>400 Bad Request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138928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77838A"/>
                </a:solidFill>
                <a:latin typeface="Aptos"/>
              </a:rPr>
              <a:t>Malformed or non-object JSON is rejected before the domain call.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7132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3BBA5"/>
                </a:solidFill>
                <a:latin typeface="Aptos"/>
              </a:rPr>
              <a:t>06 /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813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8232B"/>
                </a:solidFill>
                <a:latin typeface="Aptos Display"/>
              </a:rPr>
              <a:t>Confidence at two useful levels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3560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77838A"/>
                </a:solidFill>
                <a:latin typeface="Aptos"/>
              </a:rPr>
              <a:t>Fast domain checks protect the rule; test-client checks protect the HTTP contract.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6455664"/>
            <a:ext cx="10872216" cy="0"/>
          </a:xfrm>
          <a:prstGeom prst="line">
            <a:avLst/>
          </a:prstGeom>
          <a:ln w="9525">
            <a:solidFill>
              <a:srgbClr val="D8D8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76656" y="6519672"/>
            <a:ext cx="74980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77838A"/>
                </a:solidFill>
                <a:latin typeface="Aptos"/>
              </a:rPr>
              <a:t>VEHICLE SPEED COMPLIANCE CHECKER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01384"/>
            <a:ext cx="50292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53BBA5"/>
                </a:solidFill>
                <a:latin typeface="Aptos"/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240280"/>
            <a:ext cx="5120640" cy="3182112"/>
          </a:xfrm>
          <a:prstGeom prst="rect">
            <a:avLst/>
          </a:prstGeom>
          <a:solidFill>
            <a:srgbClr val="FFFEFA"/>
          </a:solidFill>
          <a:ln w="12700">
            <a:solidFill>
              <a:srgbClr val="D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2240280"/>
            <a:ext cx="5120640" cy="91440"/>
          </a:xfrm>
          <a:prstGeom prst="rect">
            <a:avLst/>
          </a:prstGeom>
          <a:solidFill>
            <a:srgbClr val="53B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578608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3BBA5"/>
                </a:solidFill>
                <a:latin typeface="Aptos"/>
              </a:rPr>
              <a:t>DOMAIN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944368"/>
            <a:ext cx="42062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18232B"/>
                </a:solidFill>
                <a:latin typeface="Aptos Display"/>
              </a:rPr>
              <a:t>test_checker.py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456432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77838A"/>
                </a:solidFill>
                <a:latin typeface="Aptos"/>
              </a:rPr>
              <a:t>Direct calls to check_compliance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050791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8232B"/>
                </a:solidFill>
                <a:latin typeface="Aptos"/>
              </a:rPr>
              <a:t>Boundaries 79 / 80 / 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462272"/>
            <a:ext cx="43434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8232B"/>
                </a:solidFill>
                <a:latin typeface="Aptos"/>
              </a:rPr>
              <a:t>Zero, numeric strings, invalid partitions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6208" y="2240280"/>
            <a:ext cx="5120640" cy="3182112"/>
          </a:xfrm>
          <a:prstGeom prst="rect">
            <a:avLst/>
          </a:prstGeom>
          <a:solidFill>
            <a:srgbClr val="FFFEFA"/>
          </a:solidFill>
          <a:ln w="12700">
            <a:solidFill>
              <a:srgbClr val="D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2240280"/>
            <a:ext cx="5120640" cy="91440"/>
          </a:xfrm>
          <a:prstGeom prst="rect">
            <a:avLst/>
          </a:prstGeom>
          <a:solidFill>
            <a:srgbClr val="EB7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2578608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EB755D"/>
                </a:solidFill>
                <a:latin typeface="Aptos"/>
              </a:rPr>
              <a:t>HTTP CONTRACT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944368"/>
            <a:ext cx="42062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18232B"/>
                </a:solidFill>
                <a:latin typeface="Aptos Display"/>
              </a:rPr>
              <a:t>test_api.py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456432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77838A"/>
                </a:solidFill>
                <a:latin typeface="Aptos"/>
              </a:rPr>
              <a:t>Flask application test client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050791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8232B"/>
                </a:solidFill>
                <a:latin typeface="Aptos"/>
              </a:rPr>
              <a:t>Status codes + complete JSON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462272"/>
            <a:ext cx="43891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8232B"/>
                </a:solidFill>
                <a:latin typeface="Aptos"/>
              </a:rPr>
              <a:t>No server, socket, or external service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" y="5623560"/>
            <a:ext cx="10607040" cy="438912"/>
          </a:xfrm>
          <a:prstGeom prst="rect">
            <a:avLst/>
          </a:prstGeom>
          <a:solidFill>
            <a:srgbClr val="18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5751576"/>
            <a:ext cx="5029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5E36B"/>
                </a:solidFill>
                <a:latin typeface="Aptos"/>
              </a:rPr>
              <a:t>CI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715000"/>
            <a:ext cx="8961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EFA"/>
                </a:solidFill>
                <a:latin typeface="Aptos"/>
              </a:rPr>
              <a:t>pytest runs in GitHub Actions across Python 3.9–3.12.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7132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5E36B"/>
                </a:solidFill>
                <a:latin typeface="Aptos"/>
              </a:rPr>
              <a:t>07 /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813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FFEFA"/>
                </a:solidFill>
                <a:latin typeface="Aptos Display"/>
              </a:rPr>
              <a:t>An intentionally focused 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3560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C5CED0"/>
                </a:solidFill>
                <a:latin typeface="Aptos"/>
              </a:rPr>
              <a:t>The repository is built for requirements, testing, development, review, and CI practice.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6455664"/>
            <a:ext cx="10872216" cy="0"/>
          </a:xfrm>
          <a:prstGeom prst="line">
            <a:avLst/>
          </a:prstGeom>
          <a:ln w="9525">
            <a:solidFill>
              <a:srgbClr val="3D4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76656" y="6519672"/>
            <a:ext cx="74980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AAB5B8"/>
                </a:solidFill>
                <a:latin typeface="Aptos"/>
              </a:rPr>
              <a:t>VEHICLE SPEED COMPLIANCE CHECKER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01384"/>
            <a:ext cx="50292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C5E36B"/>
                </a:solidFill>
                <a:latin typeface="Aptos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176272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5E36B"/>
                </a:solidFill>
                <a:latin typeface="Aptos"/>
              </a:rPr>
              <a:t>IN THE MVP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642616"/>
            <a:ext cx="4297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FEFA"/>
                </a:solidFill>
                <a:latin typeface="Aptos"/>
              </a:rPr>
              <a:t>Python domain function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127248"/>
            <a:ext cx="4297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FEFA"/>
                </a:solidFill>
                <a:latin typeface="Aptos"/>
              </a:rPr>
              <a:t>Flask POST /check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3611880"/>
            <a:ext cx="4297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FEFA"/>
                </a:solidFill>
                <a:latin typeface="Aptos"/>
              </a:rPr>
              <a:t>Parameterized pytest coverage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4096512"/>
            <a:ext cx="4297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FEFA"/>
                </a:solidFill>
                <a:latin typeface="Aptos"/>
              </a:rPr>
              <a:t>GitHub Actions CI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35040" y="2176272"/>
            <a:ext cx="0" cy="2560320"/>
          </a:xfrm>
          <a:prstGeom prst="line">
            <a:avLst/>
          </a:prstGeom>
          <a:ln w="12700">
            <a:solidFill>
              <a:srgbClr val="4654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46520" y="2176272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EB755D"/>
                </a:solidFill>
                <a:latin typeface="Aptos"/>
              </a:rPr>
              <a:t>OUT OF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660904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D1D9D8"/>
                </a:solidFill>
                <a:latin typeface="Aptos"/>
              </a:rPr>
              <a:t>Authentication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12724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D1D9D8"/>
                </a:solidFill>
                <a:latin typeface="Aptos"/>
              </a:rPr>
              <a:t>Persistence and user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59359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D1D9D8"/>
                </a:solidFill>
                <a:latin typeface="Aptos"/>
              </a:rPr>
              <a:t>Monitoring and rate limiting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05993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D1D9D8"/>
                </a:solidFill>
                <a:latin typeface="Aptos"/>
              </a:rPr>
              <a:t>AWS infrastructure / deployment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" y="5120640"/>
            <a:ext cx="10625328" cy="658368"/>
          </a:xfrm>
          <a:prstGeom prst="rect">
            <a:avLst/>
          </a:prstGeom>
          <a:solidFill>
            <a:srgbClr val="263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5358384"/>
            <a:ext cx="11430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C5E36B"/>
                </a:solidFill>
                <a:latin typeface="Aptos"/>
              </a:rPr>
              <a:t>NEXT STEP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95728" y="5285232"/>
            <a:ext cx="8412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EFA"/>
                </a:solidFill>
                <a:latin typeface="Aptos"/>
              </a:rPr>
              <a:t>Harden and deploy only when the exercise calls for production concerns.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Vehicle Speed Compliance Checker</dc:title>
  <dc:subject>Project overview, API behavior, architecture, and test strategy</dc:subject>
  <dc:creator>Vehicle Speed Checker Team</dc:creator>
  <cp:keywords>Python, Flask, pytest, vehicle speed, API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